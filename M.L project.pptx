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8" r:id="rId3"/>
    <p:sldId id="288" r:id="rId4"/>
    <p:sldId id="281" r:id="rId5"/>
    <p:sldId id="260" r:id="rId6"/>
    <p:sldId id="289" r:id="rId7"/>
    <p:sldId id="283" r:id="rId8"/>
    <p:sldId id="284" r:id="rId9"/>
    <p:sldId id="285" r:id="rId10"/>
    <p:sldId id="286" r:id="rId11"/>
    <p:sldId id="279" r:id="rId12"/>
    <p:sldId id="27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D453AFE-753A-4C20-8DEC-8D0B9463C099}">
          <p14:sldIdLst>
            <p14:sldId id="256"/>
            <p14:sldId id="258"/>
            <p14:sldId id="288"/>
            <p14:sldId id="281"/>
            <p14:sldId id="260"/>
            <p14:sldId id="289"/>
            <p14:sldId id="283"/>
            <p14:sldId id="284"/>
            <p14:sldId id="285"/>
            <p14:sldId id="286"/>
            <p14:sldId id="279"/>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4660"/>
  </p:normalViewPr>
  <p:slideViewPr>
    <p:cSldViewPr snapToGrid="0">
      <p:cViewPr varScale="1">
        <p:scale>
          <a:sx n="88" d="100"/>
          <a:sy n="88" d="100"/>
        </p:scale>
        <p:origin x="67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44D1B4D2-E8B3-45A7-B5ED-7A584CF84F4E}"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4307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1B4D2-E8B3-45A7-B5ED-7A584CF84F4E}" type="slidenum">
              <a:rPr lang="en-US" smtClean="0"/>
              <a:t>‹#›</a:t>
            </a:fld>
            <a:endParaRPr lang="en-US"/>
          </a:p>
        </p:txBody>
      </p:sp>
    </p:spTree>
    <p:extLst>
      <p:ext uri="{BB962C8B-B14F-4D97-AF65-F5344CB8AC3E}">
        <p14:creationId xmlns:p14="http://schemas.microsoft.com/office/powerpoint/2010/main" val="1918521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1B4D2-E8B3-45A7-B5ED-7A584CF84F4E}"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2846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5D8331C-947C-42A1-8A9F-E763D81EDD7A}"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D1B4D2-E8B3-45A7-B5ED-7A584CF84F4E}" type="slidenum">
              <a:rPr lang="en-US" smtClean="0"/>
              <a:t>‹#›</a:t>
            </a:fld>
            <a:endParaRPr lang="en-US"/>
          </a:p>
        </p:txBody>
      </p:sp>
    </p:spTree>
    <p:extLst>
      <p:ext uri="{BB962C8B-B14F-4D97-AF65-F5344CB8AC3E}">
        <p14:creationId xmlns:p14="http://schemas.microsoft.com/office/powerpoint/2010/main" val="266012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5D8331C-947C-42A1-8A9F-E763D81EDD7A}" type="datetimeFigureOut">
              <a:rPr lang="en-US" smtClean="0"/>
              <a:t>5/10/2024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4D1B4D2-E8B3-45A7-B5ED-7A584CF84F4E}"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4547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5D8331C-947C-42A1-8A9F-E763D81EDD7A}" type="datetimeFigureOut">
              <a:rPr lang="en-US" smtClean="0"/>
              <a:t>5/10/2024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4D1B4D2-E8B3-45A7-B5ED-7A584CF84F4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4027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8331C-947C-42A1-8A9F-E763D81EDD7A}" type="datetimeFigureOut">
              <a:rPr lang="en-US" smtClean="0"/>
              <a:t>5/10/2024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4D1B4D2-E8B3-45A7-B5ED-7A584CF84F4E}" type="slidenum">
              <a:rPr lang="en-US" smtClean="0"/>
              <a:t>‹#›</a:t>
            </a:fld>
            <a:endParaRPr lang="en-US"/>
          </a:p>
        </p:txBody>
      </p:sp>
    </p:spTree>
    <p:extLst>
      <p:ext uri="{BB962C8B-B14F-4D97-AF65-F5344CB8AC3E}">
        <p14:creationId xmlns:p14="http://schemas.microsoft.com/office/powerpoint/2010/main" val="883681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5D8331C-947C-42A1-8A9F-E763D81EDD7A}"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D1B4D2-E8B3-45A7-B5ED-7A584CF84F4E}"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974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5D8331C-947C-42A1-8A9F-E763D81EDD7A}"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D1B4D2-E8B3-45A7-B5ED-7A584CF84F4E}" type="slidenum">
              <a:rPr lang="en-US" smtClean="0"/>
              <a:t>‹#›</a:t>
            </a:fld>
            <a:endParaRPr lang="en-US"/>
          </a:p>
        </p:txBody>
      </p:sp>
    </p:spTree>
    <p:extLst>
      <p:ext uri="{BB962C8B-B14F-4D97-AF65-F5344CB8AC3E}">
        <p14:creationId xmlns:p14="http://schemas.microsoft.com/office/powerpoint/2010/main" val="3488165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5D8331C-947C-42A1-8A9F-E763D81EDD7A}" type="datetimeFigureOut">
              <a:rPr lang="en-US" smtClean="0"/>
              <a:t>5/10/2024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4D1B4D2-E8B3-45A7-B5ED-7A584CF84F4E}" type="slidenum">
              <a:rPr lang="en-US" smtClean="0"/>
              <a:t>‹#›</a:t>
            </a:fld>
            <a:endParaRPr lang="en-US"/>
          </a:p>
        </p:txBody>
      </p:sp>
    </p:spTree>
    <p:extLst>
      <p:ext uri="{BB962C8B-B14F-4D97-AF65-F5344CB8AC3E}">
        <p14:creationId xmlns:p14="http://schemas.microsoft.com/office/powerpoint/2010/main" val="2304916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1B4D2-E8B3-45A7-B5ED-7A584CF84F4E}"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6408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1B4D2-E8B3-45A7-B5ED-7A584CF84F4E}"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0340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1B4D2-E8B3-45A7-B5ED-7A584CF84F4E}" type="slidenum">
              <a:rPr lang="en-US" smtClean="0"/>
              <a:t>‹#›</a:t>
            </a:fld>
            <a:endParaRPr lang="en-US"/>
          </a:p>
        </p:txBody>
      </p:sp>
    </p:spTree>
    <p:extLst>
      <p:ext uri="{BB962C8B-B14F-4D97-AF65-F5344CB8AC3E}">
        <p14:creationId xmlns:p14="http://schemas.microsoft.com/office/powerpoint/2010/main" val="39751334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1B4D2-E8B3-45A7-B5ED-7A584CF84F4E}"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69182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1B4D2-E8B3-45A7-B5ED-7A584CF84F4E}"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3229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1B4D2-E8B3-45A7-B5ED-7A584CF84F4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67534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8331C-947C-42A1-8A9F-E763D81EDD7A}" type="datetimeFigureOut">
              <a:rPr lang="en-US" smtClean="0"/>
              <a:t>5/10/2024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4D1B4D2-E8B3-45A7-B5ED-7A584CF84F4E}"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9032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5D8331C-947C-42A1-8A9F-E763D81EDD7A}" type="datetimeFigureOut">
              <a:rPr lang="en-US" smtClean="0"/>
              <a:t>5/10/2024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4D1B4D2-E8B3-45A7-B5ED-7A584CF84F4E}" type="slidenum">
              <a:rPr lang="en-US" smtClean="0"/>
              <a:t>‹#›</a:t>
            </a:fld>
            <a:endParaRPr lang="en-US"/>
          </a:p>
        </p:txBody>
      </p:sp>
    </p:spTree>
    <p:extLst>
      <p:ext uri="{BB962C8B-B14F-4D97-AF65-F5344CB8AC3E}">
        <p14:creationId xmlns:p14="http://schemas.microsoft.com/office/powerpoint/2010/main" val="3200136085"/>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2400" b="1" dirty="0" smtClean="0"/>
              <a:t>COVID19 </a:t>
            </a:r>
            <a:r>
              <a:rPr lang="en-US" sz="2400" b="1" dirty="0"/>
              <a:t>Patient Classification: Automated Feature Engineering and </a:t>
            </a:r>
            <a:r>
              <a:rPr lang="en-US" sz="2400" b="1" dirty="0" err="1"/>
              <a:t>Hyperparameter</a:t>
            </a:r>
            <a:r>
              <a:rPr lang="en-US" sz="2400" b="1" dirty="0"/>
              <a:t> Optimization</a:t>
            </a:r>
          </a:p>
        </p:txBody>
      </p:sp>
      <p:sp>
        <p:nvSpPr>
          <p:cNvPr id="3" name="Subtitle 2"/>
          <p:cNvSpPr>
            <a:spLocks noGrp="1"/>
          </p:cNvSpPr>
          <p:nvPr>
            <p:ph type="subTitle" idx="1"/>
          </p:nvPr>
        </p:nvSpPr>
        <p:spPr/>
        <p:txBody>
          <a:bodyPr>
            <a:normAutofit/>
          </a:bodyPr>
          <a:lstStyle/>
          <a:p>
            <a:r>
              <a:rPr lang="en-US" sz="2000" b="1" dirty="0" smtClean="0">
                <a:latin typeface="Times New Roman" panose="02020603050405020304" pitchFamily="18" charset="0"/>
                <a:cs typeface="Times New Roman" panose="02020603050405020304" pitchFamily="18" charset="0"/>
              </a:rPr>
              <a:t>Presented </a:t>
            </a:r>
            <a:r>
              <a:rPr lang="en-US" sz="2000" b="1" dirty="0">
                <a:latin typeface="Times New Roman" panose="02020603050405020304" pitchFamily="18" charset="0"/>
                <a:cs typeface="Times New Roman" panose="02020603050405020304" pitchFamily="18" charset="0"/>
              </a:rPr>
              <a:t>by: </a:t>
            </a:r>
            <a:r>
              <a:rPr lang="en-US" sz="2000" b="1" dirty="0" smtClean="0">
                <a:latin typeface="Times New Roman" panose="02020603050405020304" pitchFamily="18" charset="0"/>
                <a:cs typeface="Times New Roman" panose="02020603050405020304" pitchFamily="18" charset="0"/>
              </a:rPr>
              <a:t>M. Awais Tariq </a:t>
            </a:r>
          </a:p>
          <a:p>
            <a:r>
              <a:rPr lang="en-US" sz="2000" b="1" dirty="0" smtClean="0">
                <a:latin typeface="Times New Roman" panose="02020603050405020304" pitchFamily="18" charset="0"/>
                <a:cs typeface="Times New Roman" panose="02020603050405020304" pitchFamily="18" charset="0"/>
              </a:rPr>
              <a:t>R.No: 23I7606</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6634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Outline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Introduction </a:t>
            </a:r>
          </a:p>
          <a:p>
            <a:r>
              <a:rPr lang="en-US" dirty="0" smtClean="0">
                <a:latin typeface="Times New Roman" panose="02020603050405020304" pitchFamily="18" charset="0"/>
                <a:cs typeface="Times New Roman" panose="02020603050405020304" pitchFamily="18" charset="0"/>
              </a:rPr>
              <a:t>Domain Background</a:t>
            </a:r>
          </a:p>
          <a:p>
            <a:r>
              <a:rPr lang="en-US" dirty="0">
                <a:latin typeface="Times New Roman" panose="02020603050405020304" pitchFamily="18" charset="0"/>
                <a:cs typeface="Times New Roman" panose="02020603050405020304" pitchFamily="18" charset="0"/>
              </a:rPr>
              <a:t>Literature </a:t>
            </a:r>
            <a:r>
              <a:rPr lang="en-US" dirty="0" smtClean="0">
                <a:latin typeface="Times New Roman" panose="02020603050405020304" pitchFamily="18" charset="0"/>
                <a:cs typeface="Times New Roman" panose="02020603050405020304" pitchFamily="18" charset="0"/>
              </a:rPr>
              <a:t>Review</a:t>
            </a:r>
          </a:p>
          <a:p>
            <a:r>
              <a:rPr lang="en-US" dirty="0" smtClean="0">
                <a:latin typeface="Times New Roman" panose="02020603050405020304" pitchFamily="18" charset="0"/>
                <a:cs typeface="Times New Roman" panose="02020603050405020304" pitchFamily="18" charset="0"/>
              </a:rPr>
              <a:t>Problem </a:t>
            </a:r>
            <a:r>
              <a:rPr lang="en-US" dirty="0">
                <a:latin typeface="Times New Roman" panose="02020603050405020304" pitchFamily="18" charset="0"/>
                <a:cs typeface="Times New Roman" panose="02020603050405020304" pitchFamily="18" charset="0"/>
              </a:rPr>
              <a:t>Statement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Methodology</a:t>
            </a:r>
          </a:p>
          <a:p>
            <a:r>
              <a:rPr lang="en-US" dirty="0" smtClean="0">
                <a:latin typeface="Times New Roman" panose="02020603050405020304" pitchFamily="18" charset="0"/>
                <a:cs typeface="Times New Roman" panose="02020603050405020304" pitchFamily="18" charset="0"/>
              </a:rPr>
              <a:t>Dataset </a:t>
            </a:r>
          </a:p>
        </p:txBody>
      </p:sp>
    </p:spTree>
    <p:extLst>
      <p:ext uri="{BB962C8B-B14F-4D97-AF65-F5344CB8AC3E}">
        <p14:creationId xmlns:p14="http://schemas.microsoft.com/office/powerpoint/2010/main" val="40220337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endParaRPr lang="en-US" sz="1800" b="1"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COVID-19, caused by a novel coronavirus, emerged in late 2019 and swiftly evolved into a global pandemic. </a:t>
            </a:r>
            <a:r>
              <a:rPr lang="en-US" sz="1800" dirty="0" smtClean="0">
                <a:latin typeface="Times New Roman" panose="02020603050405020304" pitchFamily="18" charset="0"/>
                <a:cs typeface="Times New Roman" panose="02020603050405020304" pitchFamily="18" charset="0"/>
              </a:rPr>
              <a:t>Its </a:t>
            </a:r>
            <a:r>
              <a:rPr lang="en-US" sz="1800" dirty="0">
                <a:latin typeface="Times New Roman" panose="02020603050405020304" pitchFamily="18" charset="0"/>
                <a:cs typeface="Times New Roman" panose="02020603050405020304" pitchFamily="18" charset="0"/>
              </a:rPr>
              <a:t>rapid spread exposed weaknesses in healthcare systems worldwide, necessitating efficient management and resource allocation</a:t>
            </a:r>
            <a:r>
              <a:rPr lang="en-US" sz="1800" dirty="0" smtClean="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Objective</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Investigate </a:t>
            </a:r>
            <a:r>
              <a:rPr lang="en-US" sz="1800" dirty="0">
                <a:latin typeface="Times New Roman" panose="02020603050405020304" pitchFamily="18" charset="0"/>
                <a:cs typeface="Times New Roman" panose="02020603050405020304" pitchFamily="18" charset="0"/>
              </a:rPr>
              <a:t>in detail the development of machine learning models with the intention of predicting COVID19 risk classification based on patient characteristics, conditions and medical history. </a:t>
            </a:r>
          </a:p>
        </p:txBody>
      </p:sp>
    </p:spTree>
    <p:extLst>
      <p:ext uri="{BB962C8B-B14F-4D97-AF65-F5344CB8AC3E}">
        <p14:creationId xmlns:p14="http://schemas.microsoft.com/office/powerpoint/2010/main" val="25195556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Domain </a:t>
            </a:r>
            <a:r>
              <a:rPr lang="en-US" sz="4000" b="1" dirty="0" smtClean="0">
                <a:latin typeface="Times New Roman" panose="02020603050405020304" pitchFamily="18" charset="0"/>
                <a:cs typeface="Times New Roman" panose="02020603050405020304" pitchFamily="18" charset="0"/>
              </a:rPr>
              <a:t>Background</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800" dirty="0" smtClean="0">
                <a:latin typeface="Times New Roman" panose="02020603050405020304" pitchFamily="18" charset="0"/>
                <a:cs typeface="Times New Roman" panose="02020603050405020304" pitchFamily="18" charset="0"/>
              </a:rPr>
              <a:t>COVID-19 </a:t>
            </a:r>
            <a:r>
              <a:rPr lang="en-US" sz="1800" dirty="0">
                <a:latin typeface="Times New Roman" panose="02020603050405020304" pitchFamily="18" charset="0"/>
                <a:cs typeface="Times New Roman" panose="02020603050405020304" pitchFamily="18" charset="0"/>
              </a:rPr>
              <a:t>emerged in 2019, posing global health challenges. Traditional diagnostic methods have limitations, prompting the need for improved detection techniques</a:t>
            </a:r>
            <a:r>
              <a:rPr lang="en-US" sz="1800" dirty="0" smtClean="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The COVID19 </a:t>
            </a:r>
            <a:r>
              <a:rPr lang="en-US" sz="1800" dirty="0">
                <a:latin typeface="Times New Roman" panose="02020603050405020304" pitchFamily="18" charset="0"/>
                <a:cs typeface="Times New Roman" panose="02020603050405020304" pitchFamily="18" charset="0"/>
              </a:rPr>
              <a:t>domain highlights the critical importance of efficient resource allocation and patient management</a:t>
            </a:r>
            <a:r>
              <a:rPr lang="en-US" sz="1800" dirty="0" smtClean="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It helps health authorities anticipate risk allocation in patients with </a:t>
            </a:r>
            <a:r>
              <a:rPr lang="en-US" sz="1800" dirty="0" smtClean="0">
                <a:latin typeface="Times New Roman" panose="02020603050405020304" pitchFamily="18" charset="0"/>
                <a:cs typeface="Times New Roman" panose="02020603050405020304" pitchFamily="18" charset="0"/>
              </a:rPr>
              <a:t>COVID19</a:t>
            </a:r>
            <a:r>
              <a:rPr lang="en-US" sz="1800" dirty="0">
                <a:latin typeface="Times New Roman" panose="02020603050405020304" pitchFamily="18" charset="0"/>
                <a:cs typeface="Times New Roman" panose="02020603050405020304" pitchFamily="18" charset="0"/>
              </a:rPr>
              <a:t>, prioritize resources, and use appropriate resources</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12075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Problem </a:t>
            </a:r>
            <a:r>
              <a:rPr lang="en-US" b="1" dirty="0" smtClean="0">
                <a:latin typeface="Times New Roman" panose="02020603050405020304" pitchFamily="18" charset="0"/>
                <a:cs typeface="Times New Roman" panose="02020603050405020304" pitchFamily="18" charset="0"/>
              </a:rPr>
              <a:t>Statement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800" dirty="0">
                <a:latin typeface="Times New Roman" panose="02020603050405020304" pitchFamily="18" charset="0"/>
                <a:cs typeface="Times New Roman" panose="02020603050405020304" pitchFamily="18" charset="0"/>
              </a:rPr>
              <a:t>The COVID-19 pandemic highlights the urgency of effective resource allocation and patient management. To address this, we aim to develop machine learning models capable of accurately predicting COVID-19 risk based on patient characteristics, conditions, and medical history. These models will assist in prioritizing resources and optimizing patient care in the face of limited healthcare resources and increasing patient numbers.</a:t>
            </a:r>
          </a:p>
        </p:txBody>
      </p:sp>
    </p:spTree>
    <p:extLst>
      <p:ext uri="{BB962C8B-B14F-4D97-AF65-F5344CB8AC3E}">
        <p14:creationId xmlns:p14="http://schemas.microsoft.com/office/powerpoint/2010/main" val="26258479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COVID19 </a:t>
            </a:r>
            <a:r>
              <a:rPr lang="en-US" sz="3600" b="1" dirty="0"/>
              <a:t>Dataset Overview</a:t>
            </a:r>
            <a:endParaRPr lang="en-US" sz="3600" dirty="0"/>
          </a:p>
        </p:txBody>
      </p:sp>
      <p:sp>
        <p:nvSpPr>
          <p:cNvPr id="3" name="Content Placeholder 2"/>
          <p:cNvSpPr>
            <a:spLocks noGrp="1"/>
          </p:cNvSpPr>
          <p:nvPr>
            <p:ph idx="1"/>
          </p:nvPr>
        </p:nvSpPr>
        <p:spPr/>
        <p:txBody>
          <a:bodyPr>
            <a:normAutofit fontScale="70000" lnSpcReduction="20000"/>
          </a:bodyPr>
          <a:lstStyle/>
          <a:p>
            <a:r>
              <a:rPr lang="en-US" sz="2600" b="1" dirty="0" smtClean="0"/>
              <a:t>Source</a:t>
            </a:r>
            <a:r>
              <a:rPr lang="en-US" sz="2600" b="1" dirty="0"/>
              <a:t>:</a:t>
            </a:r>
            <a:r>
              <a:rPr lang="en-US" sz="2600" dirty="0"/>
              <a:t> Mexican government</a:t>
            </a:r>
          </a:p>
          <a:p>
            <a:r>
              <a:rPr lang="en-US" sz="2600" b="1" dirty="0"/>
              <a:t>Contents:</a:t>
            </a:r>
            <a:r>
              <a:rPr lang="en-US" sz="2600" dirty="0"/>
              <a:t> Anonymized patient data</a:t>
            </a:r>
          </a:p>
          <a:p>
            <a:r>
              <a:rPr lang="en-US" sz="2600" b="1" dirty="0"/>
              <a:t>Goal:</a:t>
            </a:r>
            <a:r>
              <a:rPr lang="en-US" sz="2600" dirty="0"/>
              <a:t> Predict </a:t>
            </a:r>
            <a:r>
              <a:rPr lang="en-US" sz="2600" dirty="0" smtClean="0"/>
              <a:t>COVID19 </a:t>
            </a:r>
            <a:r>
              <a:rPr lang="en-US" sz="2600" dirty="0"/>
              <a:t>risk</a:t>
            </a:r>
          </a:p>
          <a:p>
            <a:r>
              <a:rPr lang="en-US" sz="2600" b="1" dirty="0"/>
              <a:t>Features:</a:t>
            </a:r>
            <a:r>
              <a:rPr lang="en-US" sz="2600" dirty="0"/>
              <a:t> 21 attributes</a:t>
            </a:r>
          </a:p>
          <a:p>
            <a:r>
              <a:rPr lang="en-US" sz="2600" b="1" dirty="0"/>
              <a:t>Patients:</a:t>
            </a:r>
            <a:r>
              <a:rPr lang="en-US" sz="2600" dirty="0"/>
              <a:t> </a:t>
            </a:r>
            <a:r>
              <a:rPr lang="en-US" sz="2600" dirty="0" smtClean="0"/>
              <a:t>1,048,576(rows)</a:t>
            </a:r>
            <a:endParaRPr lang="en-US" sz="2600" dirty="0"/>
          </a:p>
          <a:p>
            <a:r>
              <a:rPr lang="en-US" sz="2600" b="1" dirty="0"/>
              <a:t>Data Types:</a:t>
            </a:r>
            <a:r>
              <a:rPr lang="en-US" sz="2600" dirty="0"/>
              <a:t> Boolean (1=yes, 2=no</a:t>
            </a:r>
            <a:r>
              <a:rPr lang="en-US" sz="2600" dirty="0" smtClean="0"/>
              <a:t>)</a:t>
            </a:r>
          </a:p>
          <a:p>
            <a:r>
              <a:rPr lang="en-US" sz="2600" b="1" dirty="0"/>
              <a:t>Classification:</a:t>
            </a:r>
            <a:r>
              <a:rPr lang="en-US" sz="2600" dirty="0"/>
              <a:t> </a:t>
            </a:r>
            <a:r>
              <a:rPr lang="en-US" sz="2600" dirty="0" smtClean="0"/>
              <a:t>COVID19 </a:t>
            </a:r>
            <a:r>
              <a:rPr lang="en-US" sz="2600" dirty="0"/>
              <a:t>test findings (</a:t>
            </a:r>
            <a:r>
              <a:rPr lang="en-US" sz="2600" dirty="0" smtClean="0"/>
              <a:t>13 </a:t>
            </a:r>
            <a:r>
              <a:rPr lang="en-US" sz="2600" dirty="0"/>
              <a:t>for positive diagnosis, 4 or higher for negative or inconclusive).</a:t>
            </a:r>
          </a:p>
          <a:p>
            <a:r>
              <a:rPr lang="en-US" sz="2600" b="1" dirty="0"/>
              <a:t>Patient Type:</a:t>
            </a:r>
            <a:r>
              <a:rPr lang="en-US" sz="2600" dirty="0"/>
              <a:t> Type of care received (1 for home, 2 for hospitalization).</a:t>
            </a:r>
          </a:p>
          <a:p>
            <a:endParaRPr lang="en-US" sz="2000" dirty="0"/>
          </a:p>
          <a:p>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85049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Methodology</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sz="1600" b="1" dirty="0">
                <a:latin typeface="Times New Roman" panose="02020603050405020304" pitchFamily="18" charset="0"/>
                <a:cs typeface="Times New Roman" panose="02020603050405020304" pitchFamily="18" charset="0"/>
              </a:rPr>
              <a:t>Data </a:t>
            </a:r>
            <a:r>
              <a:rPr lang="en-US" sz="1600" b="1" dirty="0" smtClean="0">
                <a:latin typeface="Times New Roman" panose="02020603050405020304" pitchFamily="18" charset="0"/>
                <a:cs typeface="Times New Roman" panose="02020603050405020304" pitchFamily="18" charset="0"/>
              </a:rPr>
              <a:t>Collection</a:t>
            </a:r>
            <a:r>
              <a:rPr lang="en-US" sz="1600" dirty="0" smtClean="0">
                <a:latin typeface="Times New Roman" panose="02020603050405020304" pitchFamily="18" charset="0"/>
                <a:cs typeface="Times New Roman" panose="02020603050405020304" pitchFamily="18" charset="0"/>
              </a:rPr>
              <a:t> </a:t>
            </a:r>
          </a:p>
          <a:p>
            <a:r>
              <a:rPr lang="en-US" sz="1600" b="1" dirty="0" smtClean="0">
                <a:latin typeface="Times New Roman" panose="02020603050405020304" pitchFamily="18" charset="0"/>
                <a:cs typeface="Times New Roman" panose="02020603050405020304" pitchFamily="18" charset="0"/>
              </a:rPr>
              <a:t>Preprocessing</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Feature </a:t>
            </a:r>
            <a:r>
              <a:rPr lang="en-US" sz="1600" b="1" dirty="0" smtClean="0">
                <a:latin typeface="Times New Roman" panose="02020603050405020304" pitchFamily="18" charset="0"/>
                <a:cs typeface="Times New Roman" panose="02020603050405020304" pitchFamily="18" charset="0"/>
              </a:rPr>
              <a:t>Engineering</a:t>
            </a:r>
          </a:p>
          <a:p>
            <a:r>
              <a:rPr lang="en-US" sz="1600" b="1" dirty="0" smtClean="0">
                <a:latin typeface="Times New Roman" panose="02020603050405020304" pitchFamily="18" charset="0"/>
                <a:cs typeface="Times New Roman" panose="02020603050405020304" pitchFamily="18" charset="0"/>
              </a:rPr>
              <a:t>Feature Selection</a:t>
            </a:r>
          </a:p>
          <a:p>
            <a:r>
              <a:rPr lang="en-US" sz="1600" b="1" dirty="0" smtClean="0">
                <a:latin typeface="Times New Roman" panose="02020603050405020304" pitchFamily="18" charset="0"/>
                <a:cs typeface="Times New Roman" panose="02020603050405020304" pitchFamily="18" charset="0"/>
              </a:rPr>
              <a:t>Modeling</a:t>
            </a:r>
          </a:p>
          <a:p>
            <a:r>
              <a:rPr lang="en-US" sz="1600" b="1" dirty="0" smtClean="0">
                <a:latin typeface="Times New Roman" panose="02020603050405020304" pitchFamily="18" charset="0"/>
                <a:cs typeface="Times New Roman" panose="02020603050405020304" pitchFamily="18" charset="0"/>
              </a:rPr>
              <a:t>Hyper-parameter Optimization</a:t>
            </a:r>
            <a:endParaRPr lang="en-US" sz="1600" dirty="0">
              <a:latin typeface="Times New Roman" panose="02020603050405020304" pitchFamily="18" charset="0"/>
              <a:cs typeface="Times New Roman" panose="02020603050405020304" pitchFamily="18" charset="0"/>
            </a:endParaRPr>
          </a:p>
          <a:p>
            <a:r>
              <a:rPr lang="en-US" sz="1600" b="1" dirty="0" smtClean="0">
                <a:latin typeface="Times New Roman" panose="02020603050405020304" pitchFamily="18" charset="0"/>
                <a:cs typeface="Times New Roman" panose="02020603050405020304" pitchFamily="18" charset="0"/>
              </a:rPr>
              <a:t>Evaluation</a:t>
            </a:r>
            <a:r>
              <a:rPr lang="en-US" sz="1600" dirty="0" smtClean="0">
                <a:latin typeface="Times New Roman" panose="02020603050405020304" pitchFamily="18" charset="0"/>
                <a:cs typeface="Times New Roman" panose="02020603050405020304" pitchFamily="18" charset="0"/>
              </a:rPr>
              <a:t> </a:t>
            </a:r>
          </a:p>
          <a:p>
            <a:r>
              <a:rPr lang="en-US" sz="1600" b="1" dirty="0" smtClean="0">
                <a:latin typeface="Times New Roman" panose="02020603050405020304" pitchFamily="18" charset="0"/>
                <a:cs typeface="Times New Roman" panose="02020603050405020304" pitchFamily="18" charset="0"/>
              </a:rPr>
              <a:t>Model Selection</a:t>
            </a:r>
            <a:endParaRPr lang="en-US" sz="1600" dirty="0">
              <a:latin typeface="Times New Roman" panose="02020603050405020304" pitchFamily="18" charset="0"/>
              <a:cs typeface="Times New Roman" panose="02020603050405020304" pitchFamily="18" charset="0"/>
            </a:endParaRPr>
          </a:p>
          <a:p>
            <a:endParaRPr lang="en-US" sz="11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19210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Contributions</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sz="2000" b="1" dirty="0">
                <a:latin typeface="Times New Roman" panose="02020603050405020304" pitchFamily="18" charset="0"/>
                <a:cs typeface="Times New Roman" panose="02020603050405020304" pitchFamily="18" charset="0"/>
              </a:rPr>
              <a:t>Feature </a:t>
            </a:r>
            <a:r>
              <a:rPr lang="en-US" sz="2000" b="1" dirty="0" smtClean="0">
                <a:latin typeface="Times New Roman" panose="02020603050405020304" pitchFamily="18" charset="0"/>
                <a:cs typeface="Times New Roman" panose="02020603050405020304" pitchFamily="18" charset="0"/>
              </a:rPr>
              <a:t>Engineering</a:t>
            </a:r>
            <a:endParaRPr lang="en-US" sz="2000" dirty="0">
              <a:latin typeface="Times New Roman" panose="02020603050405020304" pitchFamily="18" charset="0"/>
              <a:cs typeface="Times New Roman" panose="02020603050405020304" pitchFamily="18" charset="0"/>
            </a:endParaRPr>
          </a:p>
          <a:p>
            <a:pPr lvl="1"/>
            <a:r>
              <a:rPr lang="en-US" sz="1600" b="1" dirty="0" err="1">
                <a:latin typeface="Times New Roman" panose="02020603050405020304" pitchFamily="18" charset="0"/>
                <a:cs typeface="Times New Roman" panose="02020603050405020304" pitchFamily="18" charset="0"/>
              </a:rPr>
              <a:t>EntitySet</a:t>
            </a:r>
            <a:r>
              <a:rPr lang="en-US" sz="1600" b="1" dirty="0">
                <a:latin typeface="Times New Roman" panose="02020603050405020304" pitchFamily="18" charset="0"/>
                <a:cs typeface="Times New Roman" panose="02020603050405020304" pitchFamily="18" charset="0"/>
              </a:rPr>
              <a:t> Creation</a:t>
            </a:r>
            <a:endParaRPr lang="en-US" sz="1600" dirty="0">
              <a:latin typeface="Times New Roman" panose="02020603050405020304" pitchFamily="18" charset="0"/>
              <a:cs typeface="Times New Roman" panose="02020603050405020304" pitchFamily="18" charset="0"/>
            </a:endParaRPr>
          </a:p>
          <a:p>
            <a:pPr lvl="2"/>
            <a:r>
              <a:rPr lang="en-US" sz="1600" dirty="0">
                <a:latin typeface="Times New Roman" panose="02020603050405020304" pitchFamily="18" charset="0"/>
                <a:cs typeface="Times New Roman" panose="02020603050405020304" pitchFamily="18" charset="0"/>
              </a:rPr>
              <a:t>Used </a:t>
            </a:r>
            <a:r>
              <a:rPr lang="en-US" sz="1600" dirty="0" err="1" smtClean="0">
                <a:latin typeface="Times New Roman" panose="02020603050405020304" pitchFamily="18" charset="0"/>
                <a:cs typeface="Times New Roman" panose="02020603050405020304" pitchFamily="18" charset="0"/>
              </a:rPr>
              <a:t>Featuretools</a:t>
            </a:r>
            <a:r>
              <a:rPr lang="en-US" sz="1600" dirty="0" smtClean="0">
                <a:latin typeface="Times New Roman" panose="02020603050405020304" pitchFamily="18" charset="0"/>
                <a:cs typeface="Times New Roman" panose="02020603050405020304" pitchFamily="18" charset="0"/>
              </a:rPr>
              <a:t> library </a:t>
            </a:r>
            <a:r>
              <a:rPr lang="en-US" sz="1600" dirty="0">
                <a:latin typeface="Times New Roman" panose="02020603050405020304" pitchFamily="18" charset="0"/>
                <a:cs typeface="Times New Roman" panose="02020603050405020304" pitchFamily="18" charset="0"/>
              </a:rPr>
              <a:t>to create </a:t>
            </a:r>
            <a:r>
              <a:rPr lang="en-US" sz="1600" dirty="0" err="1">
                <a:latin typeface="Times New Roman" panose="02020603050405020304" pitchFamily="18" charset="0"/>
                <a:cs typeface="Times New Roman" panose="02020603050405020304" pitchFamily="18" charset="0"/>
              </a:rPr>
              <a:t>EntitySet</a:t>
            </a:r>
            <a:r>
              <a:rPr lang="en-US" sz="1600" dirty="0">
                <a:latin typeface="Times New Roman" panose="02020603050405020304" pitchFamily="18" charset="0"/>
                <a:cs typeface="Times New Roman" panose="02020603050405020304" pitchFamily="18" charset="0"/>
              </a:rPr>
              <a:t> 'covid19'</a:t>
            </a:r>
          </a:p>
          <a:p>
            <a:pPr lvl="1"/>
            <a:r>
              <a:rPr lang="en-US" sz="1600" b="1" dirty="0" smtClean="0">
                <a:latin typeface="Times New Roman" panose="02020603050405020304" pitchFamily="18" charset="0"/>
                <a:cs typeface="Times New Roman" panose="02020603050405020304" pitchFamily="18" charset="0"/>
              </a:rPr>
              <a:t>DFS </a:t>
            </a:r>
            <a:r>
              <a:rPr lang="en-US" sz="1600" b="1" dirty="0">
                <a:latin typeface="Times New Roman" panose="02020603050405020304" pitchFamily="18" charset="0"/>
                <a:cs typeface="Times New Roman" panose="02020603050405020304" pitchFamily="18" charset="0"/>
              </a:rPr>
              <a:t>(Deep Feature Synthesis)</a:t>
            </a:r>
            <a:endParaRPr lang="en-US" sz="1600" dirty="0">
              <a:latin typeface="Times New Roman" panose="02020603050405020304" pitchFamily="18" charset="0"/>
              <a:cs typeface="Times New Roman" panose="02020603050405020304" pitchFamily="18" charset="0"/>
            </a:endParaRPr>
          </a:p>
          <a:p>
            <a:pPr lvl="2"/>
            <a:r>
              <a:rPr lang="en-US" sz="1600" dirty="0">
                <a:latin typeface="Times New Roman" panose="02020603050405020304" pitchFamily="18" charset="0"/>
                <a:cs typeface="Times New Roman" panose="02020603050405020304" pitchFamily="18" charset="0"/>
              </a:rPr>
              <a:t>Applied DFS </a:t>
            </a:r>
            <a:r>
              <a:rPr lang="en-US" sz="1600" dirty="0" smtClean="0">
                <a:latin typeface="Times New Roman" panose="02020603050405020304" pitchFamily="18" charset="0"/>
                <a:cs typeface="Times New Roman" panose="02020603050405020304" pitchFamily="18" charset="0"/>
              </a:rPr>
              <a:t>to generate </a:t>
            </a:r>
            <a:r>
              <a:rPr lang="en-US" sz="1600" dirty="0">
                <a:latin typeface="Times New Roman" panose="02020603050405020304" pitchFamily="18" charset="0"/>
                <a:cs typeface="Times New Roman" panose="02020603050405020304" pitchFamily="18" charset="0"/>
              </a:rPr>
              <a:t>numerous new features by capturing complex </a:t>
            </a:r>
            <a:r>
              <a:rPr lang="en-US" sz="1600" dirty="0" smtClean="0">
                <a:latin typeface="Times New Roman" panose="02020603050405020304" pitchFamily="18" charset="0"/>
                <a:cs typeface="Times New Roman" panose="02020603050405020304" pitchFamily="18" charset="0"/>
              </a:rPr>
              <a:t>relationships.</a:t>
            </a:r>
            <a:endParaRPr lang="en-US" sz="1600" dirty="0">
              <a:latin typeface="Times New Roman" panose="02020603050405020304" pitchFamily="18" charset="0"/>
              <a:cs typeface="Times New Roman" panose="02020603050405020304" pitchFamily="18" charset="0"/>
            </a:endParaRPr>
          </a:p>
          <a:p>
            <a:pPr lvl="2"/>
            <a:r>
              <a:rPr lang="en-US" sz="1600" dirty="0">
                <a:latin typeface="Times New Roman" panose="02020603050405020304" pitchFamily="18" charset="0"/>
                <a:cs typeface="Times New Roman" panose="02020603050405020304" pitchFamily="18" charset="0"/>
              </a:rPr>
              <a:t>Enriched dataset with engineered features derived from existing </a:t>
            </a:r>
            <a:r>
              <a:rPr lang="en-US" sz="1600" dirty="0" smtClean="0">
                <a:latin typeface="Times New Roman" panose="02020603050405020304" pitchFamily="18" charset="0"/>
                <a:cs typeface="Times New Roman" panose="02020603050405020304" pitchFamily="18" charset="0"/>
              </a:rPr>
              <a:t>ones.</a:t>
            </a:r>
          </a:p>
          <a:p>
            <a:pPr marL="914400" lvl="2"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2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91741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Contributions</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82190" y="2513388"/>
            <a:ext cx="9601196" cy="3318936"/>
          </a:xfrm>
        </p:spPr>
        <p:txBody>
          <a:bodyPr>
            <a:noAutofit/>
          </a:bodyPr>
          <a:lstStyle/>
          <a:p>
            <a:r>
              <a:rPr lang="en-US" sz="2000" b="1" dirty="0" smtClean="0">
                <a:latin typeface="Times New Roman" panose="02020603050405020304" pitchFamily="18" charset="0"/>
                <a:cs typeface="Times New Roman" panose="02020603050405020304" pitchFamily="18" charset="0"/>
              </a:rPr>
              <a:t>Feature Selection Algorithm:  </a:t>
            </a:r>
          </a:p>
          <a:p>
            <a:pPr lvl="1"/>
            <a:r>
              <a:rPr lang="en-US" sz="1600" b="1" dirty="0" smtClean="0">
                <a:latin typeface="Times New Roman" panose="02020603050405020304" pitchFamily="18" charset="0"/>
                <a:cs typeface="Times New Roman" panose="02020603050405020304" pitchFamily="18" charset="0"/>
              </a:rPr>
              <a:t>Correlation </a:t>
            </a:r>
            <a:r>
              <a:rPr lang="en-US" sz="1600" b="1" dirty="0">
                <a:latin typeface="Times New Roman" panose="02020603050405020304" pitchFamily="18" charset="0"/>
                <a:cs typeface="Times New Roman" panose="02020603050405020304" pitchFamily="18" charset="0"/>
              </a:rPr>
              <a:t>Analysis</a:t>
            </a:r>
            <a:r>
              <a:rPr lang="en-US" sz="1600" b="1"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Identified and removed highly correlated features (&gt;0.85) to enhance model learning</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lvl="1"/>
            <a:r>
              <a:rPr lang="en-US" sz="1600" b="1" dirty="0" smtClean="0">
                <a:latin typeface="Times New Roman" panose="02020603050405020304" pitchFamily="18" charset="0"/>
                <a:cs typeface="Times New Roman" panose="02020603050405020304" pitchFamily="18" charset="0"/>
              </a:rPr>
              <a:t>Variance Thresholding: </a:t>
            </a:r>
            <a:r>
              <a:rPr lang="en-US" sz="1600" dirty="0" smtClean="0">
                <a:latin typeface="Times New Roman" panose="02020603050405020304" pitchFamily="18" charset="0"/>
                <a:cs typeface="Times New Roman" panose="02020603050405020304" pitchFamily="18" charset="0"/>
              </a:rPr>
              <a:t>Removed features with variance &lt; 0.1 to eliminate </a:t>
            </a:r>
            <a:r>
              <a:rPr lang="en-US" sz="1600" dirty="0" err="1" smtClean="0">
                <a:latin typeface="Times New Roman" panose="02020603050405020304" pitchFamily="18" charset="0"/>
                <a:cs typeface="Times New Roman" panose="02020603050405020304" pitchFamily="18" charset="0"/>
              </a:rPr>
              <a:t>lowvariance</a:t>
            </a:r>
            <a:r>
              <a:rPr lang="en-US" sz="1600" dirty="0" smtClean="0">
                <a:latin typeface="Times New Roman" panose="02020603050405020304" pitchFamily="18" charset="0"/>
                <a:cs typeface="Times New Roman" panose="02020603050405020304" pitchFamily="18" charset="0"/>
              </a:rPr>
              <a:t> attributes.</a:t>
            </a:r>
          </a:p>
          <a:p>
            <a:pPr lvl="1"/>
            <a:r>
              <a:rPr lang="en-US" sz="1600" b="1" dirty="0" smtClean="0">
                <a:latin typeface="Times New Roman" panose="02020603050405020304" pitchFamily="18" charset="0"/>
                <a:cs typeface="Times New Roman" panose="02020603050405020304" pitchFamily="18" charset="0"/>
              </a:rPr>
              <a:t>Feature </a:t>
            </a:r>
            <a:r>
              <a:rPr lang="en-US" sz="1600" b="1" dirty="0">
                <a:latin typeface="Times New Roman" panose="02020603050405020304" pitchFamily="18" charset="0"/>
                <a:cs typeface="Times New Roman" panose="02020603050405020304" pitchFamily="18" charset="0"/>
              </a:rPr>
              <a:t>Importance Selection</a:t>
            </a:r>
            <a:r>
              <a:rPr lang="en-US" sz="1600" b="1"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Utilized </a:t>
            </a:r>
            <a:r>
              <a:rPr lang="en-US" sz="1600" dirty="0">
                <a:latin typeface="Times New Roman" panose="02020603050405020304" pitchFamily="18" charset="0"/>
                <a:cs typeface="Times New Roman" panose="02020603050405020304" pitchFamily="18" charset="0"/>
              </a:rPr>
              <a:t>feature importance function of classifiers (GBM, </a:t>
            </a:r>
            <a:r>
              <a:rPr lang="en-US" sz="1600" dirty="0" err="1" smtClean="0">
                <a:latin typeface="Times New Roman" panose="02020603050405020304" pitchFamily="18" charset="0"/>
                <a:cs typeface="Times New Roman" panose="02020603050405020304" pitchFamily="18" charset="0"/>
              </a:rPr>
              <a:t>AdaBoost</a:t>
            </a:r>
            <a:r>
              <a:rPr lang="en-US" sz="1600" dirty="0" smtClean="0">
                <a:latin typeface="Times New Roman" panose="02020603050405020304" pitchFamily="18" charset="0"/>
                <a:cs typeface="Times New Roman" panose="02020603050405020304" pitchFamily="18" charset="0"/>
              </a:rPr>
              <a:t>). Fitted </a:t>
            </a:r>
            <a:r>
              <a:rPr lang="en-US" sz="1600" dirty="0">
                <a:latin typeface="Times New Roman" panose="02020603050405020304" pitchFamily="18" charset="0"/>
                <a:cs typeface="Times New Roman" panose="02020603050405020304" pitchFamily="18" charset="0"/>
              </a:rPr>
              <a:t>ensemble classifier on important features</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lvl="1"/>
            <a:r>
              <a:rPr lang="en-US" sz="1600" b="1" dirty="0" smtClean="0">
                <a:latin typeface="Times New Roman" panose="02020603050405020304" pitchFamily="18" charset="0"/>
                <a:cs typeface="Times New Roman" panose="02020603050405020304" pitchFamily="18" charset="0"/>
              </a:rPr>
              <a:t>Recursive </a:t>
            </a:r>
            <a:r>
              <a:rPr lang="en-US" sz="1600" b="1" dirty="0">
                <a:latin typeface="Times New Roman" panose="02020603050405020304" pitchFamily="18" charset="0"/>
                <a:cs typeface="Times New Roman" panose="02020603050405020304" pitchFamily="18" charset="0"/>
              </a:rPr>
              <a:t>Feature Elimination (RFE</a:t>
            </a:r>
            <a:r>
              <a:rPr lang="en-US" sz="1600" b="1"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Selected </a:t>
            </a:r>
            <a:r>
              <a:rPr lang="en-US" sz="1600" dirty="0">
                <a:latin typeface="Times New Roman" panose="02020603050405020304" pitchFamily="18" charset="0"/>
                <a:cs typeface="Times New Roman" panose="02020603050405020304" pitchFamily="18" charset="0"/>
              </a:rPr>
              <a:t>features recursively based on their importance in model tuning</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lvl="1"/>
            <a:r>
              <a:rPr lang="en-US" sz="1600" b="1" dirty="0" smtClean="0">
                <a:latin typeface="Times New Roman" panose="02020603050405020304" pitchFamily="18" charset="0"/>
                <a:cs typeface="Times New Roman" panose="02020603050405020304" pitchFamily="18" charset="0"/>
              </a:rPr>
              <a:t>Normalization </a:t>
            </a:r>
            <a:r>
              <a:rPr lang="en-US" sz="1600" b="1" dirty="0">
                <a:latin typeface="Times New Roman" panose="02020603050405020304" pitchFamily="18" charset="0"/>
                <a:cs typeface="Times New Roman" panose="02020603050405020304" pitchFamily="18" charset="0"/>
              </a:rPr>
              <a:t>and Thresholding</a:t>
            </a:r>
            <a:r>
              <a:rPr lang="en-US" sz="1600" b="1"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Normalized </a:t>
            </a:r>
            <a:r>
              <a:rPr lang="en-US" sz="1600" dirty="0">
                <a:latin typeface="Times New Roman" panose="02020603050405020304" pitchFamily="18" charset="0"/>
                <a:cs typeface="Times New Roman" panose="02020603050405020304" pitchFamily="18" charset="0"/>
              </a:rPr>
              <a:t>all features between 0 and 1</a:t>
            </a:r>
            <a:r>
              <a:rPr lang="en-US" sz="1600" dirty="0" smtClean="0">
                <a:latin typeface="Times New Roman" panose="02020603050405020304" pitchFamily="18" charset="0"/>
                <a:cs typeface="Times New Roman" panose="02020603050405020304" pitchFamily="18" charset="0"/>
              </a:rPr>
              <a:t>. Selected </a:t>
            </a:r>
            <a:r>
              <a:rPr lang="en-US" sz="1600" dirty="0">
                <a:latin typeface="Times New Roman" panose="02020603050405020304" pitchFamily="18" charset="0"/>
                <a:cs typeface="Times New Roman" panose="02020603050405020304" pitchFamily="18" charset="0"/>
              </a:rPr>
              <a:t>features above a certain threshold for model training.</a:t>
            </a:r>
            <a:endParaRPr lang="en-US" sz="105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14612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latin typeface="Times New Roman" panose="02020603050405020304" pitchFamily="18" charset="0"/>
                <a:cs typeface="Times New Roman" panose="02020603050405020304" pitchFamily="18" charset="0"/>
              </a:rPr>
              <a:t>Contributions</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82190" y="2513388"/>
            <a:ext cx="9601196" cy="3318936"/>
          </a:xfrm>
        </p:spPr>
        <p:txBody>
          <a:bodyPr>
            <a:noAutofit/>
          </a:bodyPr>
          <a:lstStyle/>
          <a:p>
            <a:r>
              <a:rPr lang="en-US" sz="1600" b="1" dirty="0" err="1" smtClean="0">
                <a:latin typeface="Times New Roman" panose="02020603050405020304" pitchFamily="18" charset="0"/>
                <a:cs typeface="Times New Roman" panose="02020603050405020304" pitchFamily="18" charset="0"/>
              </a:rPr>
              <a:t>Hyperparameter</a:t>
            </a:r>
            <a:r>
              <a:rPr lang="en-US" sz="1600" b="1" dirty="0" smtClean="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Optimization with </a:t>
            </a:r>
            <a:r>
              <a:rPr lang="en-US" sz="1600" b="1" dirty="0" err="1" smtClean="0">
                <a:latin typeface="Times New Roman" panose="02020603050405020304" pitchFamily="18" charset="0"/>
                <a:cs typeface="Times New Roman" panose="02020603050405020304" pitchFamily="18" charset="0"/>
              </a:rPr>
              <a:t>Optuna</a:t>
            </a:r>
            <a:endParaRPr lang="en-US" sz="1600" b="1" dirty="0">
              <a:latin typeface="Times New Roman" panose="02020603050405020304" pitchFamily="18" charset="0"/>
              <a:cs typeface="Times New Roman" panose="02020603050405020304" pitchFamily="18" charset="0"/>
            </a:endParaRPr>
          </a:p>
          <a:p>
            <a:pPr lvl="1"/>
            <a:r>
              <a:rPr lang="en-US" sz="1600" b="1" dirty="0" smtClean="0">
                <a:latin typeface="Times New Roman" panose="02020603050405020304" pitchFamily="18" charset="0"/>
                <a:cs typeface="Times New Roman" panose="02020603050405020304" pitchFamily="18" charset="0"/>
              </a:rPr>
              <a:t>Objective </a:t>
            </a:r>
            <a:r>
              <a:rPr lang="en-US" sz="1600" b="1" dirty="0">
                <a:latin typeface="Times New Roman" panose="02020603050405020304" pitchFamily="18" charset="0"/>
                <a:cs typeface="Times New Roman" panose="02020603050405020304" pitchFamily="18" charset="0"/>
              </a:rPr>
              <a:t>Functions</a:t>
            </a:r>
            <a:r>
              <a:rPr lang="en-US" sz="1600" b="1"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Defined separate objective functions for GBM and </a:t>
            </a:r>
            <a:r>
              <a:rPr lang="en-US" sz="1600" dirty="0" err="1">
                <a:latin typeface="Times New Roman" panose="02020603050405020304" pitchFamily="18" charset="0"/>
                <a:cs typeface="Times New Roman" panose="02020603050405020304" pitchFamily="18" charset="0"/>
              </a:rPr>
              <a:t>AdaBoost</a:t>
            </a:r>
            <a:r>
              <a:rPr lang="en-US" sz="1600" dirty="0">
                <a:latin typeface="Times New Roman" panose="02020603050405020304" pitchFamily="18" charset="0"/>
                <a:cs typeface="Times New Roman" panose="02020603050405020304" pitchFamily="18" charset="0"/>
              </a:rPr>
              <a:t> classifiers</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lvl="1"/>
            <a:r>
              <a:rPr lang="en-US" sz="1600" b="1" dirty="0" smtClean="0">
                <a:latin typeface="Times New Roman" panose="02020603050405020304" pitchFamily="18" charset="0"/>
                <a:cs typeface="Times New Roman" panose="02020603050405020304" pitchFamily="18" charset="0"/>
              </a:rPr>
              <a:t> Optimization </a:t>
            </a:r>
            <a:r>
              <a:rPr lang="en-US" sz="1600" b="1" dirty="0">
                <a:latin typeface="Times New Roman" panose="02020603050405020304" pitchFamily="18" charset="0"/>
                <a:cs typeface="Times New Roman" panose="02020603050405020304" pitchFamily="18" charset="0"/>
              </a:rPr>
              <a:t>Process</a:t>
            </a:r>
            <a:r>
              <a:rPr lang="en-US" sz="1600" b="1" dirty="0" smtClean="0">
                <a:latin typeface="Times New Roman" panose="02020603050405020304" pitchFamily="18" charset="0"/>
                <a:cs typeface="Times New Roman" panose="02020603050405020304" pitchFamily="18" charset="0"/>
              </a:rPr>
              <a:t>:</a:t>
            </a:r>
            <a:endParaRPr lang="en-US" sz="1600" b="1" dirty="0">
              <a:latin typeface="Times New Roman" panose="02020603050405020304" pitchFamily="18" charset="0"/>
              <a:cs typeface="Times New Roman" panose="02020603050405020304" pitchFamily="18" charset="0"/>
            </a:endParaRPr>
          </a:p>
          <a:p>
            <a:pPr lvl="2"/>
            <a:r>
              <a:rPr lang="en-US" sz="1200" b="1" dirty="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GBM Optimization</a:t>
            </a:r>
            <a:r>
              <a:rPr lang="en-US" sz="1200" b="1"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Hyperparameters: '</a:t>
            </a:r>
            <a:r>
              <a:rPr lang="en-US" sz="1200" dirty="0" err="1">
                <a:latin typeface="Times New Roman" panose="02020603050405020304" pitchFamily="18" charset="0"/>
                <a:cs typeface="Times New Roman" panose="02020603050405020304" pitchFamily="18" charset="0"/>
              </a:rPr>
              <a:t>n_estimators</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learning_rate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max_depth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min_samples_split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min_samples_leaf</a:t>
            </a:r>
            <a:r>
              <a:rPr lang="en-US" sz="1200" dirty="0">
                <a:latin typeface="Times New Roman" panose="02020603050405020304" pitchFamily="18" charset="0"/>
                <a:cs typeface="Times New Roman" panose="02020603050405020304" pitchFamily="18" charset="0"/>
              </a:rPr>
              <a:t>', 'subsample'.</a:t>
            </a:r>
          </a:p>
          <a:p>
            <a:pPr lvl="2"/>
            <a:r>
              <a:rPr lang="en-US" sz="1200" b="1" dirty="0" smtClean="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AdaBoost</a:t>
            </a:r>
            <a:r>
              <a:rPr lang="en-US" sz="1200" b="1" dirty="0">
                <a:latin typeface="Times New Roman" panose="02020603050405020304" pitchFamily="18" charset="0"/>
                <a:cs typeface="Times New Roman" panose="02020603050405020304" pitchFamily="18" charset="0"/>
              </a:rPr>
              <a:t> Optimization</a:t>
            </a:r>
            <a:r>
              <a:rPr lang="en-US" sz="1200" b="1"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Hyperparameters: '</a:t>
            </a:r>
            <a:r>
              <a:rPr lang="en-US" sz="1200" dirty="0" err="1">
                <a:latin typeface="Times New Roman" panose="02020603050405020304" pitchFamily="18" charset="0"/>
                <a:cs typeface="Times New Roman" panose="02020603050405020304" pitchFamily="18" charset="0"/>
              </a:rPr>
              <a:t>n_estimators</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learning_rate</a:t>
            </a:r>
            <a:r>
              <a:rPr lang="en-US" sz="1200" dirty="0">
                <a:latin typeface="Times New Roman" panose="02020603050405020304" pitchFamily="18" charset="0"/>
                <a:cs typeface="Times New Roman" panose="02020603050405020304" pitchFamily="18" charset="0"/>
              </a:rPr>
              <a:t>'.</a:t>
            </a:r>
          </a:p>
          <a:p>
            <a:pPr lvl="2"/>
            <a:r>
              <a:rPr lang="en-US" sz="1200" b="1" dirty="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Study </a:t>
            </a:r>
            <a:r>
              <a:rPr lang="en-US" sz="1200" b="1" dirty="0">
                <a:latin typeface="Times New Roman" panose="02020603050405020304" pitchFamily="18" charset="0"/>
                <a:cs typeface="Times New Roman" panose="02020603050405020304" pitchFamily="18" charset="0"/>
              </a:rPr>
              <a:t>Direction: </a:t>
            </a:r>
            <a:r>
              <a:rPr lang="en-US" sz="1200" dirty="0">
                <a:latin typeface="Times New Roman" panose="02020603050405020304" pitchFamily="18" charset="0"/>
                <a:cs typeface="Times New Roman" panose="02020603050405020304" pitchFamily="18" charset="0"/>
              </a:rPr>
              <a:t>Maximize accuracy</a:t>
            </a:r>
            <a:r>
              <a:rPr lang="en-US" sz="1200" dirty="0" smtClean="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lvl="1"/>
            <a:r>
              <a:rPr lang="en-US" sz="1600" b="1" dirty="0" smtClean="0">
                <a:latin typeface="Times New Roman" panose="02020603050405020304" pitchFamily="18" charset="0"/>
                <a:cs typeface="Times New Roman" panose="02020603050405020304" pitchFamily="18" charset="0"/>
              </a:rPr>
              <a:t> Optimization </a:t>
            </a:r>
            <a:r>
              <a:rPr lang="en-US" sz="1600" b="1" dirty="0">
                <a:latin typeface="Times New Roman" panose="02020603050405020304" pitchFamily="18" charset="0"/>
                <a:cs typeface="Times New Roman" panose="02020603050405020304" pitchFamily="18" charset="0"/>
              </a:rPr>
              <a:t>Execution</a:t>
            </a:r>
            <a:r>
              <a:rPr lang="en-US" sz="1600" b="1" dirty="0" smtClean="0">
                <a:latin typeface="Times New Roman" panose="02020603050405020304" pitchFamily="18" charset="0"/>
                <a:cs typeface="Times New Roman" panose="02020603050405020304" pitchFamily="18" charset="0"/>
              </a:rPr>
              <a:t>:</a:t>
            </a:r>
            <a:endParaRPr lang="en-US" sz="1600" b="1" dirty="0">
              <a:latin typeface="Times New Roman" panose="02020603050405020304" pitchFamily="18" charset="0"/>
              <a:cs typeface="Times New Roman" panose="02020603050405020304" pitchFamily="18" charset="0"/>
            </a:endParaRPr>
          </a:p>
          <a:p>
            <a:pPr lvl="2"/>
            <a:r>
              <a:rPr lang="en-US" sz="1200" b="1" dirty="0">
                <a:latin typeface="Times New Roman" panose="02020603050405020304" pitchFamily="18" charset="0"/>
                <a:cs typeface="Times New Roman" panose="02020603050405020304" pitchFamily="18" charset="0"/>
              </a:rPr>
              <a:t>  </a:t>
            </a:r>
            <a:r>
              <a:rPr lang="en-US" sz="1200" b="1"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Created </a:t>
            </a:r>
            <a:r>
              <a:rPr lang="en-US" sz="1200" dirty="0" err="1">
                <a:latin typeface="Times New Roman" panose="02020603050405020304" pitchFamily="18" charset="0"/>
                <a:cs typeface="Times New Roman" panose="02020603050405020304" pitchFamily="18" charset="0"/>
              </a:rPr>
              <a:t>Optuna</a:t>
            </a:r>
            <a:r>
              <a:rPr lang="en-US" sz="1200" dirty="0">
                <a:latin typeface="Times New Roman" panose="02020603050405020304" pitchFamily="18" charset="0"/>
                <a:cs typeface="Times New Roman" panose="02020603050405020304" pitchFamily="18" charset="0"/>
              </a:rPr>
              <a:t> study objects for GBM and </a:t>
            </a:r>
            <a:r>
              <a:rPr lang="en-US" sz="1200" dirty="0" err="1">
                <a:latin typeface="Times New Roman" panose="02020603050405020304" pitchFamily="18" charset="0"/>
                <a:cs typeface="Times New Roman" panose="02020603050405020304" pitchFamily="18" charset="0"/>
              </a:rPr>
              <a:t>AdaBoost</a:t>
            </a:r>
            <a:r>
              <a:rPr lang="en-US" sz="1200" dirty="0">
                <a:latin typeface="Times New Roman" panose="02020603050405020304" pitchFamily="18" charset="0"/>
                <a:cs typeface="Times New Roman" panose="02020603050405020304" pitchFamily="18" charset="0"/>
              </a:rPr>
              <a:t> optimization.</a:t>
            </a:r>
          </a:p>
          <a:p>
            <a:pPr lvl="2"/>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Executed optimization process with a specified number of trials (</a:t>
            </a:r>
            <a:r>
              <a:rPr lang="en-US" sz="1200" dirty="0" err="1">
                <a:latin typeface="Times New Roman" panose="02020603050405020304" pitchFamily="18" charset="0"/>
                <a:cs typeface="Times New Roman" panose="02020603050405020304" pitchFamily="18" charset="0"/>
              </a:rPr>
              <a:t>n_trials</a:t>
            </a:r>
            <a:r>
              <a:rPr lang="en-US" sz="1200" dirty="0">
                <a:latin typeface="Times New Roman" panose="02020603050405020304" pitchFamily="18" charset="0"/>
                <a:cs typeface="Times New Roman" panose="02020603050405020304" pitchFamily="18" charset="0"/>
              </a:rPr>
              <a:t>=5).</a:t>
            </a:r>
          </a:p>
          <a:p>
            <a:endParaRPr lang="en-US" sz="9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1851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59031" y="880654"/>
            <a:ext cx="10519955" cy="1384995"/>
          </a:xfrm>
          <a:prstGeom prst="rect">
            <a:avLst/>
          </a:prstGeom>
          <a:noFill/>
        </p:spPr>
        <p:txBody>
          <a:bodyPr wrap="square" rtlCol="0">
            <a:spAutoFit/>
          </a:bodyPr>
          <a:lstStyle/>
          <a:p>
            <a:r>
              <a:rPr lang="en-US" sz="2800" b="1" dirty="0" smtClean="0"/>
              <a:t>References: </a:t>
            </a:r>
          </a:p>
          <a:p>
            <a:r>
              <a:rPr lang="en-US" sz="1400" b="1" dirty="0" smtClean="0"/>
              <a:t> </a:t>
            </a:r>
            <a:endParaRPr lang="en-US" sz="1400" b="1" dirty="0"/>
          </a:p>
          <a:p>
            <a:endParaRPr lang="en-US" sz="1400" b="1" dirty="0" smtClean="0"/>
          </a:p>
          <a:p>
            <a:endParaRPr lang="en-US" sz="1400" b="1" dirty="0"/>
          </a:p>
          <a:p>
            <a:endParaRPr lang="en-US" sz="1400" b="1" dirty="0" smtClean="0"/>
          </a:p>
        </p:txBody>
      </p:sp>
      <p:pic>
        <p:nvPicPr>
          <p:cNvPr id="2" name="Picture 1"/>
          <p:cNvPicPr>
            <a:picLocks noChangeAspect="1"/>
          </p:cNvPicPr>
          <p:nvPr/>
        </p:nvPicPr>
        <p:blipFill>
          <a:blip r:embed="rId2"/>
          <a:stretch>
            <a:fillRect/>
          </a:stretch>
        </p:blipFill>
        <p:spPr>
          <a:xfrm>
            <a:off x="1151382" y="1480818"/>
            <a:ext cx="9534722" cy="2298702"/>
          </a:xfrm>
          <a:prstGeom prst="rect">
            <a:avLst/>
          </a:prstGeom>
        </p:spPr>
      </p:pic>
    </p:spTree>
    <p:extLst>
      <p:ext uri="{BB962C8B-B14F-4D97-AF65-F5344CB8AC3E}">
        <p14:creationId xmlns:p14="http://schemas.microsoft.com/office/powerpoint/2010/main" val="2293181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309" y="2612570"/>
            <a:ext cx="7593874" cy="1446550"/>
          </a:xfrm>
          <a:prstGeom prst="rect">
            <a:avLst/>
          </a:prstGeom>
          <a:noFill/>
        </p:spPr>
        <p:txBody>
          <a:bodyPr wrap="square" rtlCol="0">
            <a:spAutoFit/>
          </a:bodyPr>
          <a:lstStyle/>
          <a:p>
            <a:pPr algn="ctr"/>
            <a:r>
              <a:rPr lang="en-US" sz="8800" dirty="0" smtClean="0">
                <a:latin typeface="Times New Roman" panose="02020603050405020304" pitchFamily="18" charset="0"/>
                <a:cs typeface="Times New Roman" panose="02020603050405020304" pitchFamily="18" charset="0"/>
              </a:rPr>
              <a:t>Thank You</a:t>
            </a:r>
            <a:endParaRPr lang="en-US" sz="8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92008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797</TotalTime>
  <Words>537</Words>
  <Application>Microsoft Office PowerPoint</Application>
  <PresentationFormat>Widescreen</PresentationFormat>
  <Paragraphs>66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Garamond</vt:lpstr>
      <vt:lpstr>Times New Roman</vt:lpstr>
      <vt:lpstr>Organic</vt:lpstr>
      <vt:lpstr>COVID19 Patient Classification: Automated Feature Engineering and Hyperparameter Optimization</vt:lpstr>
      <vt:lpstr>Outline</vt:lpstr>
      <vt:lpstr>Introduction</vt:lpstr>
      <vt:lpstr>Domain Background</vt:lpstr>
      <vt:lpstr>Problem Statement</vt:lpstr>
      <vt:lpstr>COVID19 Dataset Overview</vt:lpstr>
      <vt:lpstr>Methodology</vt:lpstr>
      <vt:lpstr>Contributions</vt:lpstr>
      <vt:lpstr>Contributions</vt:lpstr>
      <vt:lpstr>Contributions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and Implementation of Autonomous Car (A1) Based on Distributed Architecture</dc:title>
  <dc:creator>Awais Tariq</dc:creator>
  <cp:lastModifiedBy>Awais Tariq</cp:lastModifiedBy>
  <cp:revision>78</cp:revision>
  <dcterms:created xsi:type="dcterms:W3CDTF">2023-10-05T16:26:41Z</dcterms:created>
  <dcterms:modified xsi:type="dcterms:W3CDTF">2024-05-10T09:52:10Z</dcterms:modified>
</cp:coreProperties>
</file>