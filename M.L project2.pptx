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7" r:id="rId3"/>
    <p:sldId id="281" r:id="rId4"/>
    <p:sldId id="287" r:id="rId5"/>
    <p:sldId id="283" r:id="rId6"/>
    <p:sldId id="284" r:id="rId7"/>
    <p:sldId id="285" r:id="rId8"/>
    <p:sldId id="286" r:id="rId9"/>
    <p:sldId id="279" r:id="rId10"/>
    <p:sldId id="27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D453AFE-753A-4C20-8DEC-8D0B9463C099}">
          <p14:sldIdLst>
            <p14:sldId id="256"/>
            <p14:sldId id="257"/>
            <p14:sldId id="281"/>
            <p14:sldId id="287"/>
            <p14:sldId id="283"/>
            <p14:sldId id="284"/>
            <p14:sldId id="285"/>
            <p14:sldId id="286"/>
            <p14:sldId id="279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29" autoAdjust="0"/>
    <p:restoredTop sz="94660"/>
  </p:normalViewPr>
  <p:slideViewPr>
    <p:cSldViewPr snapToGrid="0">
      <p:cViewPr>
        <p:scale>
          <a:sx n="100" d="100"/>
          <a:sy n="100" d="100"/>
        </p:scale>
        <p:origin x="192" y="-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25D8331C-947C-42A1-8A9F-E763D81EDD7A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44D1B4D2-E8B3-45A7-B5ED-7A584CF84F4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4307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331C-947C-42A1-8A9F-E763D81EDD7A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1B4D2-E8B3-45A7-B5ED-7A584CF84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521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331C-947C-42A1-8A9F-E763D81EDD7A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1B4D2-E8B3-45A7-B5ED-7A584CF84F4E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846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331C-947C-42A1-8A9F-E763D81EDD7A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1B4D2-E8B3-45A7-B5ED-7A584CF84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12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331C-947C-42A1-8A9F-E763D81EDD7A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1B4D2-E8B3-45A7-B5ED-7A584CF84F4E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4547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331C-947C-42A1-8A9F-E763D81EDD7A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1B4D2-E8B3-45A7-B5ED-7A584CF84F4E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027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331C-947C-42A1-8A9F-E763D81EDD7A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1B4D2-E8B3-45A7-B5ED-7A584CF84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681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331C-947C-42A1-8A9F-E763D81EDD7A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1B4D2-E8B3-45A7-B5ED-7A584CF84F4E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9747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331C-947C-42A1-8A9F-E763D81EDD7A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1B4D2-E8B3-45A7-B5ED-7A584CF84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65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331C-947C-42A1-8A9F-E763D81EDD7A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1B4D2-E8B3-45A7-B5ED-7A584CF84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916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331C-947C-42A1-8A9F-E763D81EDD7A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1B4D2-E8B3-45A7-B5ED-7A584CF84F4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6408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331C-947C-42A1-8A9F-E763D81EDD7A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1B4D2-E8B3-45A7-B5ED-7A584CF84F4E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03403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331C-947C-42A1-8A9F-E763D81EDD7A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1B4D2-E8B3-45A7-B5ED-7A584CF84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1334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331C-947C-42A1-8A9F-E763D81EDD7A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1B4D2-E8B3-45A7-B5ED-7A584CF84F4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69182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331C-947C-42A1-8A9F-E763D81EDD7A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1B4D2-E8B3-45A7-B5ED-7A584CF84F4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2293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331C-947C-42A1-8A9F-E763D81EDD7A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1B4D2-E8B3-45A7-B5ED-7A584CF84F4E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67534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331C-947C-42A1-8A9F-E763D81EDD7A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1B4D2-E8B3-45A7-B5ED-7A584CF84F4E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9032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5D8331C-947C-42A1-8A9F-E763D81EDD7A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4D1B4D2-E8B3-45A7-B5ED-7A584CF84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136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400" b="1" dirty="0" smtClean="0"/>
              <a:t>COVID19 </a:t>
            </a:r>
            <a:r>
              <a:rPr lang="en-US" sz="2400" b="1" dirty="0"/>
              <a:t>Patient Classification: Automated Feature Engineering and </a:t>
            </a:r>
            <a:r>
              <a:rPr lang="en-US" sz="2400" b="1" dirty="0" err="1"/>
              <a:t>Hyperparameter</a:t>
            </a:r>
            <a:r>
              <a:rPr lang="en-US" sz="2400" b="1" dirty="0"/>
              <a:t> Optimization</a:t>
            </a:r>
            <a:endParaRPr lang="en-US" sz="24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M. Awais Tariq </a:t>
            </a: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R.No: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23I7606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4663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1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COVID-19, caused by a novel coronavirus, emerged in late 2019 and swiftly evolved into a global pandemic.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spread exposed weaknesses in healthcare systems worldwide, necessitating efficient management and resource allocation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detail the development of machine learning models with the intention of predicting COVID19 risk classification based on patient characteristics, conditions and medical history. </a:t>
            </a:r>
          </a:p>
        </p:txBody>
      </p:sp>
    </p:spTree>
    <p:extLst>
      <p:ext uri="{BB962C8B-B14F-4D97-AF65-F5344CB8AC3E}">
        <p14:creationId xmlns:p14="http://schemas.microsoft.com/office/powerpoint/2010/main" val="3475637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COVID-19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emerged in 2019, posing global health challenges. Traditional diagnostic methods have limitations, prompting the need for improved detection techniques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COVID19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highlights the critical importance of efficient resource allocation and patient management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health authorities anticipate risk allocation in patients with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COVID19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prioritize resources, and use appropriate resources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207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COVID19 </a:t>
            </a:r>
            <a:r>
              <a:rPr lang="en-US" sz="3600" b="1" dirty="0"/>
              <a:t>Dataset Overview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2600" b="1" dirty="0" smtClean="0"/>
              <a:t>Source</a:t>
            </a:r>
            <a:r>
              <a:rPr lang="en-US" sz="2600" b="1" dirty="0"/>
              <a:t>:</a:t>
            </a:r>
            <a:r>
              <a:rPr lang="en-US" sz="2600" dirty="0"/>
              <a:t> Mexican government</a:t>
            </a:r>
          </a:p>
          <a:p>
            <a:r>
              <a:rPr lang="en-US" sz="2600" b="1" dirty="0"/>
              <a:t>Contents:</a:t>
            </a:r>
            <a:r>
              <a:rPr lang="en-US" sz="2600" dirty="0"/>
              <a:t> Anonymized patient data</a:t>
            </a:r>
          </a:p>
          <a:p>
            <a:r>
              <a:rPr lang="en-US" sz="2600" b="1" dirty="0"/>
              <a:t>Goal:</a:t>
            </a:r>
            <a:r>
              <a:rPr lang="en-US" sz="2600" dirty="0"/>
              <a:t> Predict </a:t>
            </a:r>
            <a:r>
              <a:rPr lang="en-US" sz="2600" dirty="0" smtClean="0"/>
              <a:t>COVID19 </a:t>
            </a:r>
            <a:r>
              <a:rPr lang="en-US" sz="2600" dirty="0"/>
              <a:t>risk</a:t>
            </a:r>
          </a:p>
          <a:p>
            <a:r>
              <a:rPr lang="en-US" sz="2600" b="1" dirty="0"/>
              <a:t>Features:</a:t>
            </a:r>
            <a:r>
              <a:rPr lang="en-US" sz="2600" dirty="0"/>
              <a:t> 21 attributes</a:t>
            </a:r>
          </a:p>
          <a:p>
            <a:r>
              <a:rPr lang="en-US" sz="2600" b="1" dirty="0"/>
              <a:t>Patients:</a:t>
            </a:r>
            <a:r>
              <a:rPr lang="en-US" sz="2600" dirty="0"/>
              <a:t> </a:t>
            </a:r>
            <a:r>
              <a:rPr lang="en-US" sz="2600" dirty="0" smtClean="0"/>
              <a:t>1,048,576(rows)</a:t>
            </a:r>
            <a:endParaRPr lang="en-US" sz="2600" dirty="0"/>
          </a:p>
          <a:p>
            <a:r>
              <a:rPr lang="en-US" sz="2600" b="1" dirty="0"/>
              <a:t>Data Types:</a:t>
            </a:r>
            <a:r>
              <a:rPr lang="en-US" sz="2600" dirty="0"/>
              <a:t> Boolean (1=yes, 2=no</a:t>
            </a:r>
            <a:r>
              <a:rPr lang="en-US" sz="2600" dirty="0" smtClean="0"/>
              <a:t>)</a:t>
            </a:r>
          </a:p>
          <a:p>
            <a:r>
              <a:rPr lang="en-US" sz="2600" b="1" dirty="0"/>
              <a:t>Classification:</a:t>
            </a:r>
            <a:r>
              <a:rPr lang="en-US" sz="2600" dirty="0"/>
              <a:t> </a:t>
            </a:r>
            <a:r>
              <a:rPr lang="en-US" sz="2600" dirty="0" smtClean="0"/>
              <a:t>COVID19 </a:t>
            </a:r>
            <a:r>
              <a:rPr lang="en-US" sz="2600" dirty="0"/>
              <a:t>test findings (</a:t>
            </a:r>
            <a:r>
              <a:rPr lang="en-US" sz="2600" dirty="0" smtClean="0"/>
              <a:t>13 </a:t>
            </a:r>
            <a:r>
              <a:rPr lang="en-US" sz="2600" dirty="0"/>
              <a:t>for positive diagnosis, 4 or higher for negative or inconclusive).</a:t>
            </a:r>
          </a:p>
          <a:p>
            <a:r>
              <a:rPr lang="en-US" sz="2600" b="1" dirty="0"/>
              <a:t>Patient Type:</a:t>
            </a:r>
            <a:r>
              <a:rPr lang="en-US" sz="2600" dirty="0"/>
              <a:t> Type of care received (1 for home, 2 for hospitalization).</a:t>
            </a:r>
          </a:p>
          <a:p>
            <a:endParaRPr lang="en-US" sz="2000" dirty="0"/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354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</a:t>
            </a:r>
          </a:p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</a:p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Hyper-parameter Optimization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1921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EntitySet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Featuretools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library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EntitySet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'covid19'</a:t>
            </a:r>
          </a:p>
          <a:p>
            <a:pPr lvl="1"/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DFS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(Deep Feature Synthesis)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DFS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numerous new features by capturing complex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Enriched dataset with engineered features derived from existing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ones.</a:t>
            </a:r>
          </a:p>
          <a:p>
            <a:pPr marL="914400" lvl="2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9174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2190" y="2513388"/>
            <a:ext cx="9601196" cy="3318936"/>
          </a:xfrm>
        </p:spPr>
        <p:txBody>
          <a:bodyPr>
            <a:no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Algorithm:  </a:t>
            </a:r>
          </a:p>
          <a:p>
            <a:pPr lvl="1"/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and removed highly correlated features (&gt;0.85) to enhance model learning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Variance Thresholding: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Removed features with variance &lt; 0.1 to eliminate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lowvariance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attributes.</a:t>
            </a:r>
          </a:p>
          <a:p>
            <a:pPr lvl="1"/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Selection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Utilized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 function of classifiers (GBM,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AdaBoost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 Fitted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classifier on important features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Elimination (RFE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recursively based on their importance in model tuning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Thresholding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features between 0 and 1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Selected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above a certain threshold for model training.</a:t>
            </a:r>
            <a:endParaRPr lang="en-US" sz="105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461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2190" y="2513388"/>
            <a:ext cx="9601196" cy="3318936"/>
          </a:xfrm>
        </p:spPr>
        <p:txBody>
          <a:bodyPr>
            <a:noAutofit/>
          </a:bodyPr>
          <a:lstStyle/>
          <a:p>
            <a:r>
              <a:rPr 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with </a:t>
            </a:r>
            <a:r>
              <a:rPr 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Optuna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separate objective functions for GBM and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AdaBoost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classifiers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Optimization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GBM Optimization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Hyperparameters: '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n_estimators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'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learning_rate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'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max_depth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'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min_samples_split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'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min_samples_leaf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'subsample'.</a:t>
            </a:r>
          </a:p>
          <a:p>
            <a:pPr lvl="2"/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AdaBoost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Optimization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Hyperparameters: '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n_estimators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'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learning_rate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'.</a:t>
            </a:r>
          </a:p>
          <a:p>
            <a:pPr lvl="2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Study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Direction: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Maximize accuracy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Optimization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Optuna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study objects for GBM and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AdaBoost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optimization.</a:t>
            </a:r>
          </a:p>
          <a:p>
            <a:pPr lvl="2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Executed optimization process with a specified number of trials (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n_trials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=5).</a:t>
            </a:r>
          </a:p>
          <a:p>
            <a:endParaRPr 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185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59031" y="880654"/>
            <a:ext cx="105199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References: </a:t>
            </a:r>
            <a:endParaRPr lang="en-US" sz="2800" b="1" dirty="0" smtClean="0"/>
          </a:p>
          <a:p>
            <a:r>
              <a:rPr lang="en-US" sz="1400" b="1" dirty="0" smtClean="0"/>
              <a:t> </a:t>
            </a:r>
            <a:endParaRPr lang="en-US" sz="1400" b="1" dirty="0"/>
          </a:p>
          <a:p>
            <a:endParaRPr lang="en-US" sz="1400" b="1" dirty="0" smtClean="0"/>
          </a:p>
          <a:p>
            <a:endParaRPr lang="en-US" sz="1400" b="1" dirty="0"/>
          </a:p>
          <a:p>
            <a:endParaRPr lang="en-US" sz="1400" b="1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382" y="1480818"/>
            <a:ext cx="9534722" cy="2298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181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2309" y="2612570"/>
            <a:ext cx="759387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920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852</TotalTime>
  <Words>461</Words>
  <Application>Microsoft Office PowerPoint</Application>
  <PresentationFormat>Widescreen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Garamond</vt:lpstr>
      <vt:lpstr>Times New Roman</vt:lpstr>
      <vt:lpstr>Organic</vt:lpstr>
      <vt:lpstr>COVID19 Patient Classification: Automated Feature Engineering and Hyperparameter Optimization</vt:lpstr>
      <vt:lpstr>Introduction</vt:lpstr>
      <vt:lpstr>Domain Background</vt:lpstr>
      <vt:lpstr>COVID19 Dataset Overview</vt:lpstr>
      <vt:lpstr>Model Architecture</vt:lpstr>
      <vt:lpstr>Contributions</vt:lpstr>
      <vt:lpstr>Contributions</vt:lpstr>
      <vt:lpstr>Contributions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Development and Implementation of Autonomous Car (A1) Based on Distributed Architecture</dc:title>
  <dc:creator>Awais Tariq</dc:creator>
  <cp:lastModifiedBy>Awais Tariq</cp:lastModifiedBy>
  <cp:revision>83</cp:revision>
  <dcterms:created xsi:type="dcterms:W3CDTF">2023-10-05T16:26:41Z</dcterms:created>
  <dcterms:modified xsi:type="dcterms:W3CDTF">2024-05-07T12:59:48Z</dcterms:modified>
</cp:coreProperties>
</file>